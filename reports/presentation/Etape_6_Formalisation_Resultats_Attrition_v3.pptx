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46120" y="411480"/>
            <a:ext cx="502920" cy="502920"/>
          </a:xfrm>
          <a:prstGeom prst="ellipse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Étape 6
Formalisation des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6517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6F3"/>
                </a:solidFill>
                <a:latin typeface="Aptos"/>
              </a:rPr>
              <a:t>Projet P4 — Classification automatique des informations
Cas métier : attrition chez TechNova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91440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745"/>
                </a:solidFill>
                <a:latin typeface="Aptos"/>
              </a:rPr>
              <a:t>Du df_central au modèle interprétable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6675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3 jeux de données rapprochés dans df_central puis modélisation en 5 étapes.</a:t>
            </a:r>
          </a:p>
          <a:p>
            <a:pPr>
              <a:spcAft>
                <a:spcPts val="5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Objectif métier : mieux repérer les salariés à risque de départ sans perdre l’exigence de rigueur méthodologique.</a:t>
            </a:r>
          </a:p>
          <a:p>
            <a:pPr>
              <a:spcAft>
                <a:spcPts val="5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Restitution : hypothèses de préparation, insights EDA, stratégie de modélisation finale, causes globales et exemples locaux.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297680"/>
            <a:ext cx="1645920" cy="100584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1 470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salariés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97680"/>
            <a:ext cx="1645920" cy="100584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35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colonnes dans df_central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297680"/>
            <a:ext cx="1645920" cy="100584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16,1%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attrition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4297680"/>
            <a:ext cx="1645920" cy="100584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RF + SHAP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modèle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Sources de données et hypothèses de préparation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/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2560320" cy="10972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SIRH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profil RH, ancienneté, rémunération, poste, département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05840"/>
            <a:ext cx="2560320" cy="10972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Évaluations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notes d’évaluation, progression, niveau hiérarchique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005840"/>
            <a:ext cx="2560320" cy="10972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Sondage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satisfaction, déplacements, heures supplémentaires, PEE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1234440"/>
            <a:ext cx="731520" cy="640080"/>
          </a:xfrm>
          <a:prstGeom prst="chevron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920240" cy="1188720"/>
          </a:xfrm>
          <a:prstGeom prst="round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df_central</a:t>
            </a:r>
          </a:p>
          <a:p>
            <a:pPr algn="ctr"/>
            <a:r>
              <a:rPr sz="1100">
                <a:solidFill>
                  <a:srgbClr val="DCE6F3"/>
                </a:solidFill>
              </a:rPr>
              <a:t>1470 lignes • 35 colonnes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La colonne explicite id_employee n’est présente que dans le SIRH.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Le rapprochement a donc été fait par concaténation horizontale après réinitialisation des index.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Hypothèse structurante : les trois extraits sont alignés ligne à ligne sur les mêmes salariés.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Aucune valeur manquante détectée dans les trois fichiers ; aucune chaîne vide bloquante.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Cible finale : a_quitte_l_entreprise, puis encodage binaire attrition_bin.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743200"/>
            <a:ext cx="5120640" cy="2468880"/>
          </a:xfrm>
          <a:prstGeom prst="roundRect">
            <a:avLst/>
          </a:prstGeom>
          <a:solidFill>
            <a:srgbClr val="FAF4EB"/>
          </a:solidFill>
          <a:ln>
            <a:solidFill>
              <a:srgbClr val="E1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17D34"/>
                </a:solidFill>
              </a:rPr>
              <a:t>Point de vigilance méthodologique</a:t>
            </a:r>
          </a:p>
          <a:p>
            <a:pPr>
              <a:spcAft>
                <a:spcPts val="4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Le deck part toujours du df_central construit dans l’EDA.</a:t>
            </a:r>
          </a:p>
          <a:p>
            <a:pPr>
              <a:spcAft>
                <a:spcPts val="4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Le modèle est utile pour prioriser un risque, pas pour prouver une causalité.</a:t>
            </a:r>
          </a:p>
          <a:p>
            <a:pPr>
              <a:spcAft>
                <a:spcPts val="4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L’hypothèse d’alignement ligne à ligne doit être rappelée en soutenance.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9281160" y="2148840"/>
            <a:ext cx="2377440" cy="23317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48840"/>
            <a:ext cx="2743200" cy="23317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48840"/>
            <a:ext cx="2743200" cy="23317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743200" cy="23317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Insights clés de l’analyse exploratoire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Le signal d’attrition est minoritaire, mais plusieurs écarts de profil apparaissent dès l’EDA.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554480" cy="8686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237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départs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051560"/>
            <a:ext cx="1554480" cy="8686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1 233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restent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051560"/>
            <a:ext cx="1737360" cy="8686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33,6 vs 37,6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âge moyen (Oui vs Non)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51560"/>
            <a:ext cx="1920240" cy="8686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4 787 vs 6 833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revenu mensuel moyen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051560"/>
            <a:ext cx="1920240" cy="86868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63AB"/>
                </a:solidFill>
                <a:latin typeface="Aptos Display"/>
              </a:rPr>
              <a:t>10,6 vs 8,9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Aptos"/>
              </a:rPr>
              <a:t>distance domicile-travail</a:t>
            </a:r>
          </a:p>
        </p:txBody>
      </p:sp>
      <p:pic>
        <p:nvPicPr>
          <p:cNvPr id="10" name="Picture 9" descr="eda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237182"/>
            <a:ext cx="2743200" cy="2155035"/>
          </a:xfrm>
          <a:prstGeom prst="rect">
            <a:avLst/>
          </a:prstGeom>
        </p:spPr>
      </p:pic>
      <p:pic>
        <p:nvPicPr>
          <p:cNvPr id="12" name="Picture 11" descr="eda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99972"/>
            <a:ext cx="2743200" cy="2229455"/>
          </a:xfrm>
          <a:prstGeom prst="rect">
            <a:avLst/>
          </a:prstGeom>
        </p:spPr>
      </p:pic>
      <p:pic>
        <p:nvPicPr>
          <p:cNvPr id="14" name="Picture 13" descr="eda_ten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206776"/>
            <a:ext cx="2743200" cy="2215847"/>
          </a:xfrm>
          <a:prstGeom prst="rect">
            <a:avLst/>
          </a:prstGeom>
        </p:spPr>
      </p:pic>
      <p:pic>
        <p:nvPicPr>
          <p:cNvPr id="16" name="Picture 15" descr="eda_over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367858"/>
            <a:ext cx="2377440" cy="18936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709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Les salariés qui partent sont plus jeunes, moins rémunérés et moins ancrés dans l’entreprise.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L’attrition est particulièrement sensible quand les heures supplémentaires sont présentes.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Le déséquilibre de classes justifie d’éviter de s’appuyer uniquement sur l’accuracy.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4251960" y="960120"/>
            <a:ext cx="3931920" cy="365760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3657600" cy="365760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Segments les plus exposés dans l’EDA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/ 9</a:t>
            </a:r>
          </a:p>
        </p:txBody>
      </p:sp>
      <p:pic>
        <p:nvPicPr>
          <p:cNvPr id="4" name="Picture 3" descr="eda_d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5893"/>
            <a:ext cx="3657600" cy="2586053"/>
          </a:xfrm>
          <a:prstGeom prst="rect">
            <a:avLst/>
          </a:prstGeom>
        </p:spPr>
      </p:pic>
      <p:pic>
        <p:nvPicPr>
          <p:cNvPr id="6" name="Picture 5" descr="eda_po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615"/>
            <a:ext cx="3931920" cy="24686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05840"/>
            <a:ext cx="3474720" cy="3657600"/>
          </a:xfrm>
          <a:prstGeom prst="roundRect">
            <a:avLst/>
          </a:prstGeom>
          <a:solidFill>
            <a:srgbClr val="F5F8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Messages les plus impactants</a:t>
            </a:r>
          </a:p>
          <a:p>
            <a:pPr>
              <a:spcAft>
                <a:spcPts val="5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Célibataires : 25,5 % d’attrition contre 12,5 % pour les salariés mariés.</a:t>
            </a:r>
          </a:p>
          <a:p>
            <a:pPr>
              <a:spcAft>
                <a:spcPts val="5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Déplacements fréquents : 24,9 % d’attrition contre 8,0 % sans déplacement.</a:t>
            </a:r>
          </a:p>
          <a:p>
            <a:pPr>
              <a:spcAft>
                <a:spcPts val="5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Département Commercial : 20,6 % d’attrition ; Consulting : 13,8 %.</a:t>
            </a:r>
          </a:p>
          <a:p>
            <a:pPr>
              <a:spcAft>
                <a:spcPts val="500"/>
              </a:spcAft>
              <a:defRPr sz="140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Postes les plus exposés : Représentant commercial (39,7 %), Consultant (23,9 %), RH (23,0 %).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2828"/>
                </a:solidFill>
                <a:latin typeface="Aptos"/>
              </a:rPr>
              <a:t>Ces écarts orientent l’analyse métier : mobilité, rôle commercial, faible ancienneté et surcharge de travail ressortent tôt dans le projet.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Du df_central au pipeline de modélisation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 /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1828800" cy="114300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df_central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35 colonnes
1470 lignes</a:t>
            </a:r>
          </a:p>
        </p:txBody>
      </p:sp>
      <p:sp>
        <p:nvSpPr>
          <p:cNvPr id="5" name="Chevron 4"/>
          <p:cNvSpPr/>
          <p:nvPr/>
        </p:nvSpPr>
        <p:spPr>
          <a:xfrm>
            <a:off x="2286000" y="1417320"/>
            <a:ext cx="320040" cy="365760"/>
          </a:xfrm>
          <a:prstGeom prst="chevron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7480" y="1097280"/>
            <a:ext cx="1828800" cy="114300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Préparation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cible binaire
suppression ID / codes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0" y="1417320"/>
            <a:ext cx="320040" cy="365760"/>
          </a:xfrm>
          <a:prstGeom prst="chevron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3480" y="1097280"/>
            <a:ext cx="1828800" cy="114300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Encodage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30 features → 56
One-Hot sur train</a:t>
            </a:r>
          </a:p>
        </p:txBody>
      </p:sp>
      <p:sp>
        <p:nvSpPr>
          <p:cNvPr id="9" name="Chevron 8"/>
          <p:cNvSpPr/>
          <p:nvPr/>
        </p:nvSpPr>
        <p:spPr>
          <a:xfrm>
            <a:off x="6858000" y="1417320"/>
            <a:ext cx="320040" cy="365760"/>
          </a:xfrm>
          <a:prstGeom prst="chevron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1097280"/>
            <a:ext cx="1828800" cy="1143000"/>
          </a:xfrm>
          <a:prstGeom prst="roundRect">
            <a:avLst/>
          </a:prstGeom>
          <a:solidFill>
            <a:srgbClr val="E3EF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63AB"/>
                </a:solidFill>
              </a:rPr>
              <a:t>Corrélation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56 → 54
2 variables retirées</a:t>
            </a:r>
          </a:p>
        </p:txBody>
      </p:sp>
      <p:sp>
        <p:nvSpPr>
          <p:cNvPr id="11" name="Chevron 10"/>
          <p:cNvSpPr/>
          <p:nvPr/>
        </p:nvSpPr>
        <p:spPr>
          <a:xfrm>
            <a:off x="9144000" y="1417320"/>
            <a:ext cx="320040" cy="365760"/>
          </a:xfrm>
          <a:prstGeom prst="chevron">
            <a:avLst/>
          </a:prstGeom>
          <a:solidFill>
            <a:srgbClr val="E17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55480" y="1097280"/>
            <a:ext cx="1828800" cy="1143000"/>
          </a:xfrm>
          <a:prstGeom prst="roundRect">
            <a:avLst/>
          </a:prstGeom>
          <a:solidFill>
            <a:srgbClr val="E8F6ED"/>
          </a:solidFill>
          <a:ln>
            <a:solidFill>
              <a:srgbClr val="24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48A50"/>
                </a:solidFill>
              </a:rPr>
              <a:t>Split</a:t>
            </a:r>
          </a:p>
          <a:p>
            <a:pPr algn="ctr"/>
            <a:r>
              <a:rPr sz="1100">
                <a:solidFill>
                  <a:srgbClr val="282828"/>
                </a:solidFill>
              </a:rPr>
              <a:t>train / test
stratifié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Modèle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Accuracy test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Dummy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0,748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0,358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0,723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0,479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Random Forest (étape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37960" y="2743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La régression logistique détecte davantage de départs, mais au prix d’une précision faible.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La première Random Forest sur-apprend : F1 train = 0,997 contre F1 test = 0,269.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La suite du travail vise donc à améliorer la robustesse et la lisibilité du modèle.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26280" y="1828800"/>
            <a:ext cx="7132320" cy="402336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Méthodologie finale et fiabilité du modèle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 /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3840480" cy="5029200"/>
          </a:xfrm>
          <a:prstGeom prst="roundRect">
            <a:avLst/>
          </a:prstGeom>
          <a:solidFill>
            <a:srgbClr val="F5F8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63AB"/>
                </a:solidFill>
              </a:rPr>
              <a:t>Fine-tuning Random Forest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Sous-séparation train / validation pour choisir le seuil sans toucher au test.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RandomizedSearchCV, validation croisée stratifiée (5 folds).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Métrique d’optimisation : average precision, plus pertinente en classes déséquilibrées.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Meilleurs hyperparamètres : 800 arbres, profondeur 12, min_samples_split 5, min_samples_leaf 4, max_features='sqrt', class_weight='balanced'.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Meilleur score CV (AP) : 0,5604.</a:t>
            </a:r>
          </a:p>
          <a:p>
            <a:pPr>
              <a:spcAft>
                <a:spcPts val="400"/>
              </a:spcAft>
              <a:defRPr sz="1350">
                <a:latin typeface="Aptos"/>
              </a:defRPr>
            </a:pPr>
            <a:r>
              <a:rPr>
                <a:solidFill>
                  <a:srgbClr val="333333"/>
                </a:solidFill>
              </a:rPr>
              <a:t>Seuil retenu sur validation : 0,467.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26280" y="960120"/>
          <a:ext cx="2743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114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Configuration test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>
                    <a:solidFill>
                      <a:srgbClr val="1227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Seuil 0,5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Seuil 0,467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0,83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0,46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0,36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828"/>
                          </a:solidFill>
                          <a:latin typeface="Aptos"/>
                        </a:rPr>
                        <a:t>0,40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987552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Aptos"/>
              </a:rPr>
              <a:t>Le seuil optimisé améliore surtout le rappel : +8 points sur la classe “quitte”, sans perte d’accuracy.</a:t>
            </a:r>
          </a:p>
        </p:txBody>
      </p:sp>
      <p:pic>
        <p:nvPicPr>
          <p:cNvPr id="7" name="Picture 6" descr="confusion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25804"/>
            <a:ext cx="7132320" cy="2829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57200" y="914400"/>
            <a:ext cx="5486400" cy="48463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Interprétation globale : convergences entre méthodes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 / 9</a:t>
            </a:r>
          </a:p>
        </p:txBody>
      </p:sp>
      <p:pic>
        <p:nvPicPr>
          <p:cNvPr id="4" name="Picture 3" descr="importanc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9481"/>
            <a:ext cx="5486400" cy="3256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914400"/>
            <a:ext cx="5486400" cy="4846320"/>
          </a:xfrm>
          <a:prstGeom prst="roundRect">
            <a:avLst/>
          </a:prstGeom>
          <a:solidFill>
            <a:srgbClr val="F8FAFD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63AB"/>
                </a:solidFill>
              </a:rPr>
              <a:t>Trois lectures complémentaires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Importance native RF : rapide, mais sensible aux corrélations.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Permutation importance : mesure la baisse de performance quand une variable est brouillée.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SHAP : explique à la fois l’importance globale et le sens de l’impact.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 b="1"/>
            </a:pPr>
            <a:r>
              <a:rPr>
                <a:solidFill>
                  <a:srgbClr val="333333"/>
                </a:solidFill>
              </a:rPr>
              <a:t>Variables qui convergent le plus : heures supplémentaires, âge, participation au PEE, revenu mensuel, satisfaction moyenne, ancienneté et expérience.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Les divergences entre méthodes rappellent qu’une importance n’est jamais une causalité.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La convergence sur plusieurs méthodes renforce la confiance dans les drivers retenus.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914400"/>
            <a:ext cx="7132320" cy="521208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Ce que dit SHAP sur les causes d’attrition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 / 9</a:t>
            </a:r>
          </a:p>
        </p:txBody>
      </p:sp>
      <p:pic>
        <p:nvPicPr>
          <p:cNvPr id="4" name="Picture 3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8809"/>
            <a:ext cx="7132320" cy="49232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914400"/>
            <a:ext cx="4023360" cy="5212080"/>
          </a:xfrm>
          <a:prstGeom prst="roundRect">
            <a:avLst/>
          </a:prstGeom>
          <a:solidFill>
            <a:srgbClr val="F5F8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63AB"/>
                </a:solidFill>
              </a:rPr>
              <a:t>Lecture non technique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Valeur SHAP positive : la feature pousse la prédiction vers “quitte”.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Valeur SHAP négative : la feature pousse vers “reste”.</a:t>
            </a:r>
          </a:p>
          <a:p>
            <a:pPr>
              <a:spcAft>
                <a:spcPts val="400"/>
              </a:spcAft>
              <a:defRPr sz="1400"/>
            </a:pPr>
            <a:r>
              <a:rPr>
                <a:solidFill>
                  <a:srgbClr val="333333"/>
                </a:solidFill>
              </a:rPr>
              <a:t>Le rouge = valeur élevée de la variable ; le bleu = valeur faible.</a:t>
            </a:r>
          </a:p>
          <a:p>
            <a:pPr>
              <a:spcBef>
                <a:spcPts val="600"/>
              </a:spcBef>
              <a:defRPr sz="1600" b="1"/>
            </a:pPr>
            <a:r>
              <a:rPr b="1">
                <a:solidFill>
                  <a:srgbClr val="E17D34"/>
                </a:solidFill>
              </a:rPr>
              <a:t>Ce qui augmente le risque de départ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heures supplémentaires présentes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jeune âge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revenu faible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faible ancienneté / faible expérience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distance domicile-travail plus élevée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absence de participation au PEE</a:t>
            </a:r>
          </a:p>
          <a:p>
            <a:pPr>
              <a:spcBef>
                <a:spcPts val="600"/>
              </a:spcBef>
              <a:defRPr sz="1600" b="1"/>
            </a:pPr>
            <a:r>
              <a:rPr b="1">
                <a:solidFill>
                  <a:srgbClr val="248A50"/>
                </a:solidFill>
              </a:rPr>
              <a:t>Facteurs protecteurs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revenu plus élevé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ancienneté plus forte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pas d’heures supplémentaires</a:t>
            </a:r>
          </a:p>
          <a:p>
            <a:pPr>
              <a:defRPr sz="1350"/>
            </a:pPr>
            <a:r>
              <a:rPr>
                <a:solidFill>
                  <a:srgbClr val="333333"/>
                </a:solidFill>
              </a:rPr>
              <a:t>participation au PEE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6172200" y="1051560"/>
            <a:ext cx="5577840" cy="43891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669280" cy="4389120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Interprétation locale : expliquer un cas individuel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Les waterfall plots montrent, pour un salarié précis, quelles variables font monter ou baisser la probabilité de départ.</a:t>
            </a:r>
          </a:p>
        </p:txBody>
      </p:sp>
      <p:pic>
        <p:nvPicPr>
          <p:cNvPr id="5" name="Picture 4" descr="waterfall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693"/>
            <a:ext cx="5669280" cy="4076852"/>
          </a:xfrm>
          <a:prstGeom prst="rect">
            <a:avLst/>
          </a:prstGeom>
        </p:spPr>
      </p:pic>
      <p:pic>
        <p:nvPicPr>
          <p:cNvPr id="7" name="Picture 6" descr="waterfall_n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56059"/>
            <a:ext cx="5577840" cy="358012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86400"/>
            <a:ext cx="5394960" cy="640080"/>
          </a:xfrm>
          <a:prstGeom prst="roundRect">
            <a:avLst/>
          </a:prstGeom>
          <a:solidFill>
            <a:srgbClr val="FBF0F2"/>
          </a:solidFill>
          <a:ln>
            <a:solidFill>
              <a:srgbClr val="C0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>
                <a:solidFill>
                  <a:srgbClr val="282828"/>
                </a:solidFill>
              </a:rPr>
              <a:t>Cas “quitte” (proba = 0,909) : très jeune, faible revenu, peu d’expérience, faible ancienneté, heures supplémentaires, pas de PEE.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486400"/>
            <a:ext cx="5394960" cy="640080"/>
          </a:xfrm>
          <a:prstGeom prst="roundRect">
            <a:avLst/>
          </a:prstGeom>
          <a:solidFill>
            <a:srgbClr val="EEF6FC"/>
          </a:solidFill>
          <a:ln>
            <a:solidFill>
              <a:srgbClr val="21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>
                <a:solidFill>
                  <a:srgbClr val="282828"/>
                </a:solidFill>
              </a:rPr>
              <a:t>Cas “reste” (proba = 0,051) : pas d’heures sup., revenu plus élevé, participation au PEE, ancienneté forte, faible distance domicile-travail.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Vincent Desmouceaux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Conclusion, limites et suites RH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109728"/>
            <a:ext cx="1463040" cy="292608"/>
          </a:xfrm>
          <a:prstGeom prst="roundRect">
            <a:avLst/>
          </a:prstGeom>
          <a:solidFill>
            <a:srgbClr val="21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163AB"/>
                </a:solidFill>
                <a:latin typeface="Aptos"/>
              </a:rPr>
              <a:t>Ce que le projet apporte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Un pipeline complet et reproductible, construit à partir de df_central.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Un modèle non linéaire optimisé, évalué proprement avec réglage du seuil sur validation.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Une double lecture explicative : globale (RF / permutation / SHAP) et locale (waterfall).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17D34"/>
                </a:solidFill>
                <a:latin typeface="Aptos"/>
              </a:rPr>
              <a:t>Limites à expliciter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Le rapprochement des fichiers repose sur une hypothèse d’alignement ligne à ligne.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Le modèle identifie des associations, pas des causes certaines.</a:t>
            </a:r>
          </a:p>
          <a:p>
            <a:pPr>
              <a:spcAft>
                <a:spcPts val="5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Le rappel reste perfectible : le modèle aide à prioriser, pas à remplacer l’expertise RH.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914400"/>
            <a:ext cx="548640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4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48A50"/>
                </a:solidFill>
              </a:rPr>
              <a:t>Pistes d’action métier</a:t>
            </a:r>
          </a:p>
          <a:p>
            <a:pPr>
              <a:spcAft>
                <a:spcPts val="500"/>
              </a:spcAft>
              <a:defRPr sz="1450"/>
            </a:pPr>
            <a:r>
              <a:rPr>
                <a:solidFill>
                  <a:srgbClr val="333333"/>
                </a:solidFill>
              </a:rPr>
              <a:t>Cibler en priorité les profils jeunes / peu anciens / peu rémunérés en surcharge de travail.</a:t>
            </a:r>
          </a:p>
          <a:p>
            <a:pPr>
              <a:spcAft>
                <a:spcPts val="500"/>
              </a:spcAft>
              <a:defRPr sz="1450"/>
            </a:pPr>
            <a:r>
              <a:rPr>
                <a:solidFill>
                  <a:srgbClr val="333333"/>
                </a:solidFill>
              </a:rPr>
              <a:t>Surveiller les équipes commerciales et les profils en déplacement fréquent.</a:t>
            </a:r>
          </a:p>
          <a:p>
            <a:pPr>
              <a:spcAft>
                <a:spcPts val="500"/>
              </a:spcAft>
              <a:defRPr sz="1450"/>
            </a:pPr>
            <a:r>
              <a:rPr>
                <a:solidFill>
                  <a:srgbClr val="333333"/>
                </a:solidFill>
              </a:rPr>
              <a:t>Explorer plus finement la relation entre participation au PEE, satisfaction et rétention.</a:t>
            </a:r>
          </a:p>
          <a:p>
            <a:pPr>
              <a:spcAft>
                <a:spcPts val="500"/>
              </a:spcAft>
              <a:defRPr sz="1450"/>
            </a:pPr>
            <a:r>
              <a:rPr>
                <a:solidFill>
                  <a:srgbClr val="333333"/>
                </a:solidFill>
              </a:rPr>
              <a:t>Utiliser les explications locales pour outiller un suivi RH individualisé, avec prudence et cadre éthique.</a:t>
            </a:r>
          </a:p>
          <a:p>
            <a:pPr>
              <a:spcAft>
                <a:spcPts val="500"/>
              </a:spcAft>
              <a:defRPr sz="1450"/>
            </a:pPr>
            <a:r>
              <a:rPr>
                <a:solidFill>
                  <a:srgbClr val="333333"/>
                </a:solidFill>
              </a:rPr>
              <a:t>Étape suivante possible : calibration, nouvelles features RH et comparaison avec XGBoost / Gradient Boosting.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6969"/>
                </a:solidFill>
                <a:latin typeface="Aptos"/>
              </a:rPr>
              <a:t>Projet P4 • Étape 6 • Synthèse 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